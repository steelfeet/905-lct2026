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2" r:id="rId2"/>
    <p:sldId id="263" r:id="rId3"/>
    <p:sldId id="264" r:id="rId4"/>
    <p:sldId id="265" r:id="rId5"/>
    <p:sldId id="266" r:id="rId6"/>
    <p:sldId id="270" r:id="rId7"/>
    <p:sldId id="269" r:id="rId8"/>
    <p:sldId id="271" r:id="rId9"/>
    <p:sldId id="272" r:id="rId10"/>
    <p:sldId id="268" r:id="rId11"/>
    <p:sldId id="273" r:id="rId12"/>
    <p:sldId id="274" r:id="rId13"/>
    <p:sldId id="284" r:id="rId14"/>
    <p:sldId id="285" r:id="rId15"/>
    <p:sldId id="286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7" d="100"/>
          <a:sy n="87" d="100"/>
        </p:scale>
        <p:origin x="258" y="7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5965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9824244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вт 20.10.26</a:t>
            </a:fld>
            <a:endParaRPr lang="ru-RU"/>
          </a:p>
        </p:txBody>
      </p:sp>
      <p:sp>
        <p:nvSpPr>
          <p:cNvPr id="1520966637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5604065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7798569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223675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33F88C-2C6A-4A2C-DF57-4BDAB9786D9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4433BC-8ADC-F0F0-B265-0695EA18578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4753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2362508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199740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92416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4848435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9156733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490BE-540C-97E9-1191-6A96BB892B02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885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46047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985089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140717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886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7138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824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103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9444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0059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41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8984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3233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763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2575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4579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7160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84877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402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9B3F4-B2F2-68D0-90F2-CA7EA3849A62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713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619603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69710729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997483383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989930649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17542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90470220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4132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вт 20.10.26</a:t>
            </a:fld>
            <a:endParaRPr lang="ru-RU"/>
          </a:p>
        </p:txBody>
      </p:sp>
      <p:sp>
        <p:nvSpPr>
          <p:cNvPr id="78664726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9598828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47103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778981494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6288011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573358809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9073897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01927158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5430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вт 20.10.26</a:t>
            </a:fld>
            <a:endParaRPr lang="ru-RU"/>
          </a:p>
        </p:txBody>
      </p:sp>
      <p:sp>
        <p:nvSpPr>
          <p:cNvPr id="132324252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9509052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439232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439444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вт 20.10.26</a:t>
            </a:fld>
            <a:endParaRPr lang="ru-RU"/>
          </a:p>
        </p:txBody>
      </p:sp>
      <p:sp>
        <p:nvSpPr>
          <p:cNvPr id="205154668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73594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4092320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886314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1441181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0828343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вт 20.10.26</a:t>
            </a:fld>
            <a:endParaRPr lang="ru-RU"/>
          </a:p>
        </p:txBody>
      </p:sp>
      <p:sp>
        <p:nvSpPr>
          <p:cNvPr id="56911352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771821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3125887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835315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38107227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06077100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9671413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32760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вт 20.10.26</a:t>
            </a:fld>
            <a:endParaRPr lang="ru-RU"/>
          </a:p>
        </p:txBody>
      </p:sp>
      <p:sp>
        <p:nvSpPr>
          <p:cNvPr id="1939178566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9544338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18465388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88933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вт 20.10.26</a:t>
            </a:fld>
            <a:endParaRPr lang="ru-RU"/>
          </a:p>
        </p:txBody>
      </p:sp>
      <p:sp>
        <p:nvSpPr>
          <p:cNvPr id="57333855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47592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44612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4780365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7978114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2423462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вт 20.10.26</a:t>
            </a:fld>
            <a:endParaRPr lang="ru-RU"/>
          </a:p>
        </p:txBody>
      </p:sp>
      <p:sp>
        <p:nvSpPr>
          <p:cNvPr id="20972115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1182869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69971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вт 20.10.26</a:t>
            </a:fld>
            <a:endParaRPr lang="ru-RU"/>
          </a:p>
        </p:txBody>
      </p:sp>
      <p:sp>
        <p:nvSpPr>
          <p:cNvPr id="171739351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6781255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7438081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21511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вт 20.10.26</a:t>
            </a:fld>
            <a:endParaRPr lang="ru-RU"/>
          </a:p>
        </p:txBody>
      </p:sp>
      <p:sp>
        <p:nvSpPr>
          <p:cNvPr id="13485833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863494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61427380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323409683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265579397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30360646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8104049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92934954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85561409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105310123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22748877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2227546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31326621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67946646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54289026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4565232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913546246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17189727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950629941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2101266478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838078884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766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вт 20.10.26</a:t>
            </a:fld>
            <a:endParaRPr lang="ru-RU"/>
          </a:p>
        </p:txBody>
      </p:sp>
      <p:sp>
        <p:nvSpPr>
          <p:cNvPr id="76875374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036250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696889980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46014708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87370206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30146573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20715370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3372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вт 20.10.26</a:t>
            </a:fld>
            <a:endParaRPr lang="ru-RU"/>
          </a:p>
        </p:txBody>
      </p:sp>
      <p:sp>
        <p:nvSpPr>
          <p:cNvPr id="78794924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24009758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0328431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744554229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691857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556085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5846451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5510683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7145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вт 20.10.26</a:t>
            </a:fld>
            <a:endParaRPr lang="ru-RU"/>
          </a:p>
        </p:txBody>
      </p:sp>
      <p:sp>
        <p:nvSpPr>
          <p:cNvPr id="4870867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635168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41806772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999761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2691156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5807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120557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9462503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7365498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8735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вт 20.10.26</a:t>
            </a:fld>
            <a:endParaRPr lang="ru-RU"/>
          </a:p>
        </p:txBody>
      </p:sp>
      <p:sp>
        <p:nvSpPr>
          <p:cNvPr id="100814831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5655881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93012860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2472587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925842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742669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407175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5024500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4627081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0589826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602486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7037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вт 20.10.26</a:t>
            </a:fld>
            <a:endParaRPr lang="ru-RU"/>
          </a:p>
        </p:txBody>
      </p:sp>
      <p:sp>
        <p:nvSpPr>
          <p:cNvPr id="37587564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868818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22911849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5919416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289356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617342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87557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983138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290601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6921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67401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23204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вт 20.10.26</a:t>
            </a:fld>
            <a:endParaRPr lang="ru-RU"/>
          </a:p>
        </p:txBody>
      </p:sp>
      <p:sp>
        <p:nvSpPr>
          <p:cNvPr id="3164186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9522220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085862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3129169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5021884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10599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415179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54574487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0142735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006956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83481410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34642469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1142622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9723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вт 20.10.26</a:t>
            </a:fld>
            <a:endParaRPr lang="ru-RU"/>
          </a:p>
        </p:txBody>
      </p:sp>
      <p:sp>
        <p:nvSpPr>
          <p:cNvPr id="6290720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7445892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4600544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75697840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445255375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2090117787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084083604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67813483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418084540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07228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04384695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вт 20.10.26</a:t>
            </a:fld>
            <a:endParaRPr lang="ru-RU"/>
          </a:p>
        </p:txBody>
      </p:sp>
      <p:sp>
        <p:nvSpPr>
          <p:cNvPr id="48667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0930659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550790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089259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56022786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8957202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2968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вт 20.10.26</a:t>
            </a:fld>
            <a:endParaRPr lang="ru-RU"/>
          </a:p>
        </p:txBody>
      </p:sp>
      <p:sp>
        <p:nvSpPr>
          <p:cNvPr id="58976452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209780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535551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81108311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0370519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026057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168972491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25123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20988833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2833967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8968644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21744187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7816882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2107409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471360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346271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088303409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604448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055621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456266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4106759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80061176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вт 20.10.26</a:t>
            </a:fld>
            <a:endParaRPr lang="ru-RU"/>
          </a:p>
        </p:txBody>
      </p:sp>
      <p:sp>
        <p:nvSpPr>
          <p:cNvPr id="1380124268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43174266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9081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22235823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3384749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140226725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7319904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вт 20.10.26</a:t>
            </a:fld>
            <a:endParaRPr lang="ru-RU"/>
          </a:p>
        </p:txBody>
      </p:sp>
      <p:sp>
        <p:nvSpPr>
          <p:cNvPr id="1566491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4242318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43279635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63944795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73402369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2518057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9576403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7119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83974954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4408314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вт 20.10.26</a:t>
            </a:fld>
            <a:endParaRPr lang="ru-RU"/>
          </a:p>
        </p:txBody>
      </p:sp>
      <p:sp>
        <p:nvSpPr>
          <p:cNvPr id="211054250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60191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837500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31355" y="2663649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«Мишки </a:t>
            </a:r>
            <a:r>
              <a:rPr lang="ru-RU" sz="4800" dirty="0" err="1"/>
              <a:t>Гамми</a:t>
            </a:r>
            <a:r>
              <a:rPr lang="ru-RU" sz="4800" dirty="0"/>
              <a:t>»</a:t>
            </a:r>
          </a:p>
        </p:txBody>
      </p:sp>
      <p:sp>
        <p:nvSpPr>
          <p:cNvPr id="463602938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231355" y="4305238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 b="1" dirty="0"/>
              <a:t>03. Система контроля взаимодействия с учебными заведениями для приобретения навыков работы с востребованными на рынке цифровыми инструментами ЛЦТ2026</a:t>
            </a:r>
          </a:p>
          <a:p>
            <a:pPr indent="268288">
              <a:defRPr/>
            </a:pPr>
            <a:endParaRPr lang="ru-RU" dirty="0"/>
          </a:p>
        </p:txBody>
      </p:sp>
      <p:sp>
        <p:nvSpPr>
          <p:cNvPr id="1900026782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6" name="Image 16" descr=" ">
            <a:extLst>
              <a:ext uri="{FF2B5EF4-FFF2-40B4-BE49-F238E27FC236}">
                <a16:creationId xmlns:a16="http://schemas.microsoft.com/office/drawing/2014/main" id="{E3EB6D2A-38DA-41C5-9430-E9710DE96F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4317" y="378027"/>
            <a:ext cx="3428665" cy="878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36046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12745890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904019389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Наше решение закрывает не только классическую задачу — контроль взаимодействия с вузами, но и второй контур: работу преподавателя со студентами над проектами. Пять ролей, два двунаправленных контура, прозрачно, наглядно и удобно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1686477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Якушенко Павел Васильевич, преподаватель СПО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</a:t>
            </a:r>
            <a:r>
              <a:rPr lang="ru-RU" u="sng" dirty="0">
                <a:solidFill>
                  <a:schemeClr val="tx1"/>
                </a:solidFill>
              </a:rPr>
              <a:t>4</a:t>
            </a:r>
            <a:r>
              <a:rPr lang="ru-RU" dirty="0">
                <a:solidFill>
                  <a:schemeClr val="tx1"/>
                </a:solidFill>
              </a:rPr>
              <a:t>_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Команде больше 7 лет, 4 раза финалист ЛЦТ 2022-2025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ГАПОУ НППК, КГУ им. </a:t>
            </a:r>
            <a:r>
              <a:rPr lang="ru-RU" i="1" dirty="0" err="1">
                <a:solidFill>
                  <a:schemeClr val="tx1"/>
                </a:solidFill>
              </a:rPr>
              <a:t>К.Э.Циолковского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i="1" dirty="0">
                <a:solidFill>
                  <a:schemeClr val="tx1"/>
                </a:solidFill>
              </a:rPr>
              <a:t>г.Новозыбков, </a:t>
            </a:r>
            <a:r>
              <a:rPr lang="ru-RU" i="1" dirty="0" err="1">
                <a:solidFill>
                  <a:schemeClr val="tx1"/>
                </a:solidFill>
              </a:rPr>
              <a:t>г.Калуга</a:t>
            </a:r>
            <a:r>
              <a:rPr lang="ru-RU" i="1" dirty="0">
                <a:solidFill>
                  <a:schemeClr val="tx1"/>
                </a:solidFill>
              </a:rPr>
              <a:t>, </a:t>
            </a:r>
            <a:r>
              <a:rPr lang="ru-RU" i="1" dirty="0" err="1">
                <a:solidFill>
                  <a:schemeClr val="tx1"/>
                </a:solidFill>
              </a:rPr>
              <a:t>г.Москва</a:t>
            </a:r>
            <a:endParaRPr lang="ru-RU" dirty="0"/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1981900766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1013842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«Мишки </a:t>
            </a:r>
            <a:r>
              <a:rPr lang="ru-RU" sz="2400" dirty="0" err="1">
                <a:solidFill>
                  <a:schemeClr val="accent5"/>
                </a:solidFill>
                <a:latin typeface="Montserrat"/>
              </a:rPr>
              <a:t>Гамми</a:t>
            </a:r>
            <a:r>
              <a:rPr lang="ru-RU" sz="2400" dirty="0">
                <a:solidFill>
                  <a:schemeClr val="accent5"/>
                </a:solidFill>
                <a:latin typeface="Montserrat"/>
              </a:rPr>
              <a:t>»</a:t>
            </a:r>
          </a:p>
        </p:txBody>
      </p:sp>
      <p:cxnSp>
        <p:nvCxnSpPr>
          <p:cNvPr id="511109878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9503280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8767912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8324570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79685682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Главное отличие решения — </a:t>
            </a:r>
            <a:r>
              <a:rPr lang="ru-RU" b="1" dirty="0">
                <a:solidFill>
                  <a:schemeClr val="tx1"/>
                </a:solidFill>
              </a:rPr>
              <a:t>двунаправленный </a:t>
            </a:r>
            <a:r>
              <a:rPr lang="ru-RU" b="1" dirty="0" err="1">
                <a:solidFill>
                  <a:schemeClr val="tx1"/>
                </a:solidFill>
              </a:rPr>
              <a:t>workflow</a:t>
            </a:r>
            <a:r>
              <a:rPr lang="ru-RU" dirty="0">
                <a:solidFill>
                  <a:schemeClr val="tx1"/>
                </a:solidFill>
              </a:rPr>
              <a:t>. Жизненный цикл взаимодействия управляется не только со стороны менеджера ИТ Школы, но и со стороны конечного пользователя: представителя вуза, преподавателя, а при необходимости — обучающегося. Оба участника видят актуальный статус, могут оставлять обратную связь, прикладывать файлы, подтверждать или отклонять этапы, запрашивать доработку.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3026068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3DB21B-764B-4522-B341-9888623B86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70" y="575958"/>
            <a:ext cx="1680380" cy="22409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06B29F-9F64-4D1C-9181-652B0EF3DD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63" b="34663"/>
          <a:stretch>
            <a:fillRect/>
          </a:stretch>
        </p:blipFill>
        <p:spPr bwMode="auto">
          <a:xfrm>
            <a:off x="110169" y="1645479"/>
            <a:ext cx="1983035" cy="103004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47CA4D-7424-46B4-9460-C259F40E77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746" y="169031"/>
            <a:ext cx="1072254" cy="26546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735B22-E395-4239-918B-3D5BEF3CE0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152" y="896079"/>
            <a:ext cx="1779449" cy="17794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977687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84265158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Программист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152-ФЗ запрещает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152-ФЗ запрещает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КГУ </a:t>
            </a:r>
            <a:r>
              <a:rPr lang="ru-RU" sz="1200" dirty="0" err="1">
                <a:solidFill>
                  <a:schemeClr val="tx1"/>
                </a:solidFill>
              </a:rPr>
              <a:t>им.К.Э.Циолковского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38676718" name="Текст 8"/>
          <p:cNvSpPr txBox="1"/>
          <p:nvPr/>
        </p:nvSpPr>
        <p:spPr bwMode="auto">
          <a:xfrm>
            <a:off x="2737256" y="3622118"/>
            <a:ext cx="2007135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Дмитрий Якушенко</a:t>
            </a:r>
            <a:endParaRPr dirty="0"/>
          </a:p>
        </p:txBody>
      </p:sp>
      <p:sp>
        <p:nvSpPr>
          <p:cNvPr id="1615649398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05894751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Администратор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152-ФЗ запрещает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152-ФЗ запрещает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Логист ООО «</a:t>
            </a:r>
            <a:r>
              <a:rPr lang="ru-RU" sz="1200" dirty="0" err="1">
                <a:solidFill>
                  <a:schemeClr val="tx1"/>
                </a:solidFill>
              </a:rPr>
              <a:t>Белтранслогистика</a:t>
            </a:r>
            <a:r>
              <a:rPr lang="ru-RU" sz="1200" dirty="0">
                <a:solidFill>
                  <a:schemeClr val="tx1"/>
                </a:solidFill>
              </a:rPr>
              <a:t>»</a:t>
            </a:r>
          </a:p>
        </p:txBody>
      </p:sp>
      <p:sp>
        <p:nvSpPr>
          <p:cNvPr id="1246038422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Елена </a:t>
            </a:r>
            <a:r>
              <a:rPr lang="ru-RU" sz="1600" b="1" dirty="0" err="1">
                <a:solidFill>
                  <a:schemeClr val="accent5"/>
                </a:solidFill>
              </a:rPr>
              <a:t>Чавдарь</a:t>
            </a:r>
            <a:endParaRPr dirty="0"/>
          </a:p>
        </p:txBody>
      </p:sp>
      <p:sp>
        <p:nvSpPr>
          <p:cNvPr id="1012705233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4615713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Баг-тестер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152-ФЗ запрещает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152-ФЗ запрещает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Электрик слаботочных систем</a:t>
            </a:r>
          </a:p>
        </p:txBody>
      </p:sp>
      <p:sp>
        <p:nvSpPr>
          <p:cNvPr id="954335049" name="Текст 8"/>
          <p:cNvSpPr txBox="1"/>
          <p:nvPr/>
        </p:nvSpPr>
        <p:spPr bwMode="auto">
          <a:xfrm>
            <a:off x="7434313" y="3622118"/>
            <a:ext cx="1808111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Дмитрий </a:t>
            </a:r>
            <a:r>
              <a:rPr lang="ru-RU" sz="1600" b="1" dirty="0" err="1">
                <a:solidFill>
                  <a:schemeClr val="accent5"/>
                </a:solidFill>
              </a:rPr>
              <a:t>Чавдарь</a:t>
            </a:r>
            <a:endParaRPr dirty="0"/>
          </a:p>
        </p:txBody>
      </p:sp>
      <p:sp>
        <p:nvSpPr>
          <p:cNvPr id="1248715057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62003970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6352141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B20B3A-80DD-4956-8A05-3D59790B358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1" b="4931"/>
          <a:stretch>
            <a:fillRect/>
          </a:stretch>
        </p:blipFill>
        <p:spPr bwMode="auto">
          <a:xfrm>
            <a:off x="581025" y="1816100"/>
            <a:ext cx="1722438" cy="1552575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82F90B-8AFE-411D-9C9C-A3A504F9AE6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4288" b="4288"/>
          <a:stretch>
            <a:fillRect/>
          </a:stretch>
        </p:blipFill>
        <p:spPr>
          <a:xfrm>
            <a:off x="2886075" y="1827213"/>
            <a:ext cx="1722438" cy="154146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1E68928-33EA-4206-984C-1D388330301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6129" b="6129"/>
          <a:stretch>
            <a:fillRect/>
          </a:stretch>
        </p:blipFill>
        <p:spPr>
          <a:xfrm>
            <a:off x="5191125" y="1809750"/>
            <a:ext cx="1722438" cy="155892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6822D8-1CDE-44D1-AB12-88DCF6872D4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7"/>
          <a:srcRect t="10992" b="10992"/>
          <a:stretch>
            <a:fillRect/>
          </a:stretch>
        </p:blipFill>
        <p:spPr>
          <a:xfrm>
            <a:off x="7519988" y="1809750"/>
            <a:ext cx="1722437" cy="1558925"/>
          </a:xfrm>
          <a:prstGeom prst="rect">
            <a:avLst/>
          </a:prstGeom>
        </p:spPr>
      </p:pic>
      <p:sp>
        <p:nvSpPr>
          <p:cNvPr id="154263083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«Мишки </a:t>
            </a:r>
            <a:r>
              <a:rPr lang="ru-RU" dirty="0" err="1">
                <a:latin typeface="Montserrat"/>
              </a:rPr>
              <a:t>Гамми</a:t>
            </a:r>
            <a:r>
              <a:rPr lang="ru-RU" dirty="0">
                <a:latin typeface="Montserrat"/>
              </a:rPr>
              <a:t>»</a:t>
            </a:r>
          </a:p>
        </p:txBody>
      </p:sp>
      <p:sp>
        <p:nvSpPr>
          <p:cNvPr id="785413220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@pa5ht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+7(910)296-30-37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ГАПОУ НППК</a:t>
            </a:r>
            <a:endParaRPr dirty="0"/>
          </a:p>
        </p:txBody>
      </p:sp>
      <p:sp>
        <p:nvSpPr>
          <p:cNvPr id="790449421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Павел Якушенко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10311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9590100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22852712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«Мишки </a:t>
            </a:r>
            <a:r>
              <a:rPr lang="ru-RU" dirty="0" err="1"/>
              <a:t>Гамми</a:t>
            </a:r>
            <a:r>
              <a:rPr lang="ru-RU" dirty="0"/>
              <a:t>»</a:t>
            </a:r>
            <a:endParaRPr lang="ru-RU" dirty="0">
              <a:latin typeface="Montserrat"/>
            </a:endParaRPr>
          </a:p>
        </p:txBody>
      </p:sp>
      <p:sp>
        <p:nvSpPr>
          <p:cNvPr id="53863068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6" y="1602273"/>
            <a:ext cx="5029911" cy="934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Я преподаватель </a:t>
            </a:r>
            <a:r>
              <a:rPr lang="ru-RU" dirty="0" err="1">
                <a:solidFill>
                  <a:schemeClr val="tx1"/>
                </a:solidFill>
              </a:rPr>
              <a:t>спецдисциплин</a:t>
            </a:r>
            <a:r>
              <a:rPr lang="ru-RU" dirty="0">
                <a:solidFill>
                  <a:schemeClr val="tx1"/>
                </a:solidFill>
              </a:rPr>
              <a:t>, курсов по программированию, </a:t>
            </a:r>
            <a:r>
              <a:rPr lang="en-US" dirty="0">
                <a:solidFill>
                  <a:schemeClr val="tx1"/>
                </a:solidFill>
              </a:rPr>
              <a:t>DS&amp;ML</a:t>
            </a:r>
            <a:r>
              <a:rPr lang="ru-RU" dirty="0">
                <a:solidFill>
                  <a:schemeClr val="tx1"/>
                </a:solidFill>
              </a:rPr>
              <a:t>. Вот уже 7 лет таскаю своих студентов по </a:t>
            </a:r>
            <a:r>
              <a:rPr lang="ru-RU" dirty="0" err="1">
                <a:solidFill>
                  <a:schemeClr val="tx1"/>
                </a:solidFill>
              </a:rPr>
              <a:t>хакатонам</a:t>
            </a:r>
            <a:r>
              <a:rPr lang="ru-RU" dirty="0">
                <a:solidFill>
                  <a:schemeClr val="tx1"/>
                </a:solidFill>
              </a:rPr>
              <a:t>, олимпиадам и конкурсам. Четырежды финалисты ЛЦТ, пару килограмм других грамот.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9648205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dirty="0"/>
          </a:p>
        </p:txBody>
      </p:sp>
      <p:sp>
        <p:nvSpPr>
          <p:cNvPr id="1864101134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Для нас это обычная работа, поэтому ничего необычного не было и быть не могло. Выбрали задачу, сделали задачу.</a:t>
            </a:r>
            <a:endParaRPr dirty="0"/>
          </a:p>
        </p:txBody>
      </p:sp>
      <p:sp>
        <p:nvSpPr>
          <p:cNvPr id="630028872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697325692" name="Текст 8"/>
          <p:cNvSpPr txBox="1"/>
          <p:nvPr/>
        </p:nvSpPr>
        <p:spPr bwMode="auto">
          <a:xfrm>
            <a:off x="533607" y="3429000"/>
            <a:ext cx="6098547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 я сам постоянно прохожу курсы повышения квалификации и требую от студентов и проектных работ и дополнительных курсов. Вот этим летом проходил КПК в ИТ школе «Ростелекома», поэтому эти проблемы мне очень близки и со стороны пользователя и со стороны менеджера.</a:t>
            </a:r>
            <a:endParaRPr dirty="0"/>
          </a:p>
        </p:txBody>
      </p:sp>
      <p:sp>
        <p:nvSpPr>
          <p:cNvPr id="1232022423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416745814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979264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4085468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66298517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879267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896297309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495168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64821693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7262956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0161738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3575792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err="1">
                <a:solidFill>
                  <a:schemeClr val="tx1"/>
                </a:solidFill>
              </a:rPr>
              <a:t>Двунаправленность</a:t>
            </a:r>
            <a:r>
              <a:rPr lang="ru-RU" sz="1800" b="1" dirty="0">
                <a:solidFill>
                  <a:schemeClr val="tx1"/>
                </a:solidFill>
              </a:rPr>
              <a:t> работы</a:t>
            </a:r>
            <a:r>
              <a:rPr lang="en-US" sz="1800" b="1" dirty="0">
                <a:solidFill>
                  <a:schemeClr val="tx1"/>
                </a:solidFill>
              </a:rPr>
              <a:t>: </a:t>
            </a:r>
            <a:r>
              <a:rPr lang="ru-RU" sz="1800" b="1" dirty="0">
                <a:solidFill>
                  <a:schemeClr val="tx1"/>
                </a:solidFill>
              </a:rPr>
              <a:t>менеджера и представителя вуза / преподавателя и студента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    </a:t>
            </a:r>
            <a:r>
              <a:rPr lang="ru-RU" sz="1800" dirty="0">
                <a:solidFill>
                  <a:schemeClr val="tx1"/>
                </a:solidFill>
              </a:rPr>
              <a:t>Ключевая особенность системы — </a:t>
            </a:r>
            <a:r>
              <a:rPr lang="ru-RU" sz="1800" b="1" dirty="0">
                <a:solidFill>
                  <a:schemeClr val="tx1"/>
                </a:solidFill>
              </a:rPr>
              <a:t>двунаправленный контроль не только на уровне «ИТ Школа ↔ вуз», но и на уровне «преподаватель ↔ студент»</a:t>
            </a:r>
            <a:r>
              <a:rPr lang="ru-RU" sz="1800" dirty="0">
                <a:solidFill>
                  <a:schemeClr val="tx1"/>
                </a:solidFill>
              </a:rPr>
              <a:t>, что особенно важно в проектной работе. Над одним проектом может работать несколько студентов одновременно, у одного студента может быть несколько проектов в разных фазах, а сами проекты различаются по типу — код-проект, исследование, интерактив, доклад, дизайн.</a:t>
            </a:r>
          </a:p>
        </p:txBody>
      </p:sp>
      <p:sp>
        <p:nvSpPr>
          <p:cNvPr id="132939533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6157590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2058564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353018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7F937A-965A-4D7B-AFFC-1C85AFC2CCCB}"/>
              </a:ext>
            </a:extLst>
          </p:cNvPr>
          <p:cNvSpPr>
            <a:spLocks noGrp="1" noChangeArrowheads="1"/>
          </p:cNvSpPr>
          <p:nvPr>
            <p:ph type="body" sz="quarter" idx="38"/>
          </p:nvPr>
        </p:nvSpPr>
        <p:spPr bwMode="auto">
          <a:xfrm>
            <a:off x="578063" y="1483398"/>
            <a:ext cx="4820202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Двунаправленный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 каждому взаимодействию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«вуз + ИТ-программа + ИТ-продукт».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ru-RU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Визуализация пути взаимодействия в виде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канбана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таймлайна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/диаграммы.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Переходы между статусами с комментариями и вложениями.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Корректировка и создание новых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Импорт справочников из XLS/XLSX.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Фильтрация по вузам, ИТ-направлениям, ИТ-продуктам,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ответственным, периодам.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Отчёты в XLS, XLSX, PDF.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Диаграммы и графики: PNG, PDF.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Интеграция по API с LMS и сайтом на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Авторизация через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Keycloak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Ролевая модель и разграничение доступа к данным.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Кэширование действий и справочников.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Аудит действий.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Адаптивный интерфейс для десктопа и мобильных устройств.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44121" y="290022"/>
            <a:ext cx="5994696" cy="552061"/>
          </a:xfrm>
        </p:spPr>
        <p:txBody>
          <a:bodyPr/>
          <a:lstStyle/>
          <a:p>
            <a:r>
              <a:rPr lang="ru-RU" sz="3600" dirty="0" err="1"/>
              <a:t>Дашборд</a:t>
            </a:r>
            <a:r>
              <a:rPr lang="ru-RU" sz="3600" dirty="0"/>
              <a:t> руководителя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FBC2BEE-CFF3-4523-86B4-38766AAE5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432" y="1304256"/>
            <a:ext cx="8016863" cy="4666981"/>
          </a:xfrm>
        </p:spPr>
      </p:pic>
    </p:spTree>
    <p:extLst>
      <p:ext uri="{BB962C8B-B14F-4D97-AF65-F5344CB8AC3E}">
        <p14:creationId xmlns:p14="http://schemas.microsoft.com/office/powerpoint/2010/main" val="307164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14879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02455370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070815723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Роли и ролевой переключатель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477903633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Пять ролей — один интерфейс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🧭 </a:t>
            </a:r>
            <a:r>
              <a:rPr lang="ru-RU" b="1" dirty="0">
                <a:solidFill>
                  <a:schemeClr val="tx1"/>
                </a:solidFill>
              </a:rPr>
              <a:t>Руководитель</a:t>
            </a:r>
            <a:r>
              <a:rPr lang="ru-RU" dirty="0">
                <a:solidFill>
                  <a:schemeClr val="tx1"/>
                </a:solidFill>
              </a:rPr>
              <a:t> — сводный </a:t>
            </a:r>
            <a:r>
              <a:rPr lang="ru-RU" dirty="0" err="1">
                <a:solidFill>
                  <a:schemeClr val="tx1"/>
                </a:solidFill>
              </a:rPr>
              <a:t>дашборд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📋 </a:t>
            </a:r>
            <a:r>
              <a:rPr lang="ru-RU" b="1" dirty="0">
                <a:solidFill>
                  <a:schemeClr val="tx1"/>
                </a:solidFill>
              </a:rPr>
              <a:t>Менеджер</a:t>
            </a:r>
            <a:r>
              <a:rPr lang="ru-RU" dirty="0">
                <a:solidFill>
                  <a:schemeClr val="tx1"/>
                </a:solidFill>
              </a:rPr>
              <a:t> — вуз + проекты студентов</a:t>
            </a:r>
          </a:p>
          <a:p>
            <a:r>
              <a:rPr lang="ru-RU" dirty="0">
                <a:solidFill>
                  <a:schemeClr val="tx1"/>
                </a:solidFill>
              </a:rPr>
              <a:t>🎓 </a:t>
            </a:r>
            <a:r>
              <a:rPr lang="ru-RU" b="1" dirty="0">
                <a:solidFill>
                  <a:schemeClr val="tx1"/>
                </a:solidFill>
              </a:rPr>
              <a:t>Представитель вуза</a:t>
            </a:r>
            <a:r>
              <a:rPr lang="ru-RU" dirty="0">
                <a:solidFill>
                  <a:schemeClr val="tx1"/>
                </a:solidFill>
              </a:rPr>
              <a:t> — журнал и проекты</a:t>
            </a:r>
          </a:p>
          <a:p>
            <a:r>
              <a:rPr lang="ru-RU" dirty="0">
                <a:solidFill>
                  <a:schemeClr val="tx1"/>
                </a:solidFill>
              </a:rPr>
              <a:t>🎒 </a:t>
            </a:r>
            <a:r>
              <a:rPr lang="ru-RU" b="1" dirty="0">
                <a:solidFill>
                  <a:schemeClr val="tx1"/>
                </a:solidFill>
              </a:rPr>
              <a:t>Студент</a:t>
            </a:r>
            <a:r>
              <a:rPr lang="ru-RU" dirty="0">
                <a:solidFill>
                  <a:schemeClr val="tx1"/>
                </a:solidFill>
              </a:rPr>
              <a:t> — свои проекты и оценки</a:t>
            </a:r>
          </a:p>
          <a:p>
            <a:r>
              <a:rPr lang="ru-RU" dirty="0">
                <a:solidFill>
                  <a:schemeClr val="tx1"/>
                </a:solidFill>
              </a:rPr>
              <a:t>👪 </a:t>
            </a:r>
            <a:r>
              <a:rPr lang="ru-RU" b="1" dirty="0">
                <a:solidFill>
                  <a:schemeClr val="tx1"/>
                </a:solidFill>
              </a:rPr>
              <a:t>Родитель</a:t>
            </a:r>
            <a:r>
              <a:rPr lang="ru-RU" dirty="0">
                <a:solidFill>
                  <a:schemeClr val="tx1"/>
                </a:solidFill>
              </a:rPr>
              <a:t> — только свой ребёнок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71643A-9FD8-471A-AEC7-42A8F3BF9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46" y="3093617"/>
            <a:ext cx="4517368" cy="1191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44121" y="290022"/>
            <a:ext cx="5994696" cy="552061"/>
          </a:xfrm>
        </p:spPr>
        <p:txBody>
          <a:bodyPr/>
          <a:lstStyle/>
          <a:p>
            <a:r>
              <a:rPr lang="ru-RU" sz="3600" dirty="0" err="1"/>
              <a:t>Дашборд</a:t>
            </a:r>
            <a:r>
              <a:rPr lang="ru-RU" sz="3600" dirty="0"/>
              <a:t> руководителя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FBC2BEE-CFF3-4523-86B4-38766AAE5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432" y="1304256"/>
            <a:ext cx="8016863" cy="4666981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14EED7-F5C7-425C-B60F-C8313780BD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075" y="1392745"/>
            <a:ext cx="9046682" cy="476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8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44121" y="290022"/>
            <a:ext cx="5994696" cy="552061"/>
          </a:xfrm>
        </p:spPr>
        <p:txBody>
          <a:bodyPr/>
          <a:lstStyle/>
          <a:p>
            <a:r>
              <a:rPr lang="ru-RU" sz="3600" dirty="0" err="1"/>
              <a:t>Дашборд</a:t>
            </a:r>
            <a:r>
              <a:rPr lang="ru-RU" sz="3600" dirty="0"/>
              <a:t> руководителя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C69078A-FBEE-4E49-94A7-837E5B84A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329" y="1495074"/>
            <a:ext cx="8647342" cy="4714939"/>
          </a:xfrm>
        </p:spPr>
      </p:pic>
    </p:spTree>
    <p:extLst>
      <p:ext uri="{BB962C8B-B14F-4D97-AF65-F5344CB8AC3E}">
        <p14:creationId xmlns:p14="http://schemas.microsoft.com/office/powerpoint/2010/main" val="374142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E73FF657-4B2B-4F96-B13B-E3C8AD7DB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123" y="986447"/>
            <a:ext cx="7133547" cy="3864005"/>
          </a:xfrm>
        </p:spPr>
      </p:pic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44121" y="501641"/>
            <a:ext cx="5994696" cy="552061"/>
          </a:xfrm>
        </p:spPr>
        <p:txBody>
          <a:bodyPr/>
          <a:lstStyle/>
          <a:p>
            <a:r>
              <a:rPr lang="ru-RU" sz="3600" dirty="0"/>
              <a:t>Парадигма: двунаправленный </a:t>
            </a:r>
            <a:r>
              <a:rPr lang="en-US" sz="3600" dirty="0"/>
              <a:t>workflow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3F5CEF-FA6C-46A5-8863-6D0F558CD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174" y="2192357"/>
            <a:ext cx="7343500" cy="3361387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C395EC2-072D-4093-86C3-AFB208EC044F}"/>
              </a:ext>
            </a:extLst>
          </p:cNvPr>
          <p:cNvSpPr/>
          <p:nvPr/>
        </p:nvSpPr>
        <p:spPr bwMode="auto">
          <a:xfrm>
            <a:off x="1534201" y="5819472"/>
            <a:ext cx="8670275" cy="1073769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«Не мы контролируем вуз. Мы вместе проходим один путь»</a:t>
            </a:r>
            <a:endParaRPr lang="ru-RU" sz="32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Матрица проектов «вуз × продукт» с </a:t>
            </a:r>
            <a:r>
              <a:rPr lang="ru-RU" sz="3600" dirty="0" err="1"/>
              <a:t>drag-and-drop</a:t>
            </a:r>
            <a:endParaRPr lang="ru-RU" sz="36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C493A32-9B61-490D-84B9-E62B128FD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259" y="1304256"/>
            <a:ext cx="8064599" cy="452243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Матрица проектов и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drag-and-drop</a:t>
            </a:r>
            <a:endParaRPr lang="ru-RU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Строки — вузы, столбцы — ИТ-продукты</a:t>
            </a:r>
          </a:p>
          <a:p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Каждая клетка — цветной листочек фазы</a:t>
            </a:r>
          </a:p>
          <a:p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Перетаскивание на соседнюю фазу</a:t>
            </a:r>
          </a:p>
          <a:p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Фазы с </a:t>
            </a:r>
            <a:r>
              <a:rPr lang="ru-RU" sz="1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🔒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требуют подтверждения вуза</a:t>
            </a:r>
          </a:p>
          <a:p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Псевдо-3D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листок приподнимается над доской</a:t>
            </a:r>
          </a:p>
        </p:txBody>
      </p:sp>
    </p:spTree>
    <p:extLst>
      <p:ext uri="{BB962C8B-B14F-4D97-AF65-F5344CB8AC3E}">
        <p14:creationId xmlns:p14="http://schemas.microsoft.com/office/powerpoint/2010/main" val="375310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Матрица проектов «вуз × продукт» с </a:t>
            </a:r>
            <a:r>
              <a:rPr lang="ru-RU" sz="3600" dirty="0" err="1"/>
              <a:t>drag-and-drop</a:t>
            </a:r>
            <a:endParaRPr lang="ru-RU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Эта же фаза со стороны представителя ВУЗа</a:t>
            </a:r>
          </a:p>
          <a:p>
            <a:endParaRPr lang="ru-RU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Ему приходит либо уведомление о переходе проекта в следующую фазу, либо (при необходимости) требуется его подтверждение или иные действия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BEC8A85-2A20-4471-9CBB-057840AA0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111" y="1582116"/>
            <a:ext cx="8261906" cy="3693768"/>
          </a:xfrm>
        </p:spPr>
      </p:pic>
    </p:spTree>
    <p:extLst>
      <p:ext uri="{BB962C8B-B14F-4D97-AF65-F5344CB8AC3E}">
        <p14:creationId xmlns:p14="http://schemas.microsoft.com/office/powerpoint/2010/main" val="3484065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484742" y="387071"/>
            <a:ext cx="5994696" cy="552061"/>
          </a:xfrm>
        </p:spPr>
        <p:txBody>
          <a:bodyPr/>
          <a:lstStyle/>
          <a:p>
            <a:r>
              <a:rPr lang="ru-RU" sz="3600" dirty="0"/>
              <a:t>Документ как объект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5515" y="1507837"/>
            <a:ext cx="2853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 с документами в нашей парадигме решается просто и элегантно!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DDC930B-2326-4CBE-AE2C-378070864FBA}"/>
              </a:ext>
            </a:extLst>
          </p:cNvPr>
          <p:cNvSpPr/>
          <p:nvPr/>
        </p:nvSpPr>
        <p:spPr bwMode="auto">
          <a:xfrm>
            <a:off x="1446066" y="5776401"/>
            <a:ext cx="8670275" cy="1073769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«Документ — не вложение в шаг, а объект, который переживает шаги»</a:t>
            </a:r>
            <a:endParaRPr lang="ru-RU" sz="32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0E48066-8257-4C15-9199-800946365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132" y="1307010"/>
            <a:ext cx="4061724" cy="4061724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4282884-6F2F-431B-8203-9FA812B810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43" y="3034857"/>
            <a:ext cx="5393256" cy="212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3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B6049667-E20F-4A5F-BB64-3C859719E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484742" y="387071"/>
            <a:ext cx="5994696" cy="552061"/>
          </a:xfrm>
        </p:spPr>
        <p:txBody>
          <a:bodyPr/>
          <a:lstStyle/>
          <a:p>
            <a:r>
              <a:rPr lang="ru-RU" sz="3600" dirty="0"/>
              <a:t>Документ как объект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DDC930B-2326-4CBE-AE2C-378070864FBA}"/>
              </a:ext>
            </a:extLst>
          </p:cNvPr>
          <p:cNvSpPr/>
          <p:nvPr/>
        </p:nvSpPr>
        <p:spPr bwMode="auto">
          <a:xfrm>
            <a:off x="1534201" y="5717130"/>
            <a:ext cx="8670275" cy="1073769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«Это не макет — это работающая модель в прототипе»</a:t>
            </a:r>
            <a:endParaRPr lang="ru-RU" sz="32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5267B6-50BF-44F1-B4B1-9DF2EE68D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243" y="1016177"/>
            <a:ext cx="8343132" cy="47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7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B6049667-E20F-4A5F-BB64-3C859719E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r>
              <a:rPr lang="en-US" b="1" u="sng" dirty="0">
                <a:solidFill>
                  <a:srgbClr val="0070C0"/>
                </a:solidFill>
              </a:rPr>
              <a:t>https://github.com/</a:t>
            </a:r>
            <a:r>
              <a:rPr lang="ru-RU" b="1" u="sng" dirty="0">
                <a:solidFill>
                  <a:srgbClr val="0070C0"/>
                </a:solidFill>
              </a:rPr>
              <a:t>*****</a:t>
            </a:r>
            <a:r>
              <a:rPr lang="en-US" b="1" u="sng" dirty="0">
                <a:solidFill>
                  <a:srgbClr val="0070C0"/>
                </a:solidFill>
              </a:rPr>
              <a:t>/</a:t>
            </a:r>
            <a:r>
              <a:rPr lang="ru-RU" b="1" u="sng" dirty="0">
                <a:solidFill>
                  <a:srgbClr val="0070C0"/>
                </a:solidFill>
              </a:rPr>
              <a:t>*****</a:t>
            </a:r>
            <a:r>
              <a:rPr lang="en-US" b="1" u="sng" dirty="0">
                <a:solidFill>
                  <a:srgbClr val="0070C0"/>
                </a:solidFill>
              </a:rPr>
              <a:t>/blob/main/tests/Load/RESULTS.md</a:t>
            </a:r>
            <a:endParaRPr lang="ru-RU" b="1" u="sng" dirty="0">
              <a:solidFill>
                <a:srgbClr val="0070C0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484742" y="387071"/>
            <a:ext cx="5994696" cy="552061"/>
          </a:xfrm>
        </p:spPr>
        <p:txBody>
          <a:bodyPr/>
          <a:lstStyle/>
          <a:p>
            <a:r>
              <a:rPr lang="ru-RU" sz="3600" dirty="0"/>
              <a:t>Нагрузочные тесты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DDC930B-2326-4CBE-AE2C-378070864FBA}"/>
              </a:ext>
            </a:extLst>
          </p:cNvPr>
          <p:cNvSpPr/>
          <p:nvPr/>
        </p:nvSpPr>
        <p:spPr bwMode="auto">
          <a:xfrm>
            <a:off x="1534201" y="5717130"/>
            <a:ext cx="8670275" cy="1073769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i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«NFR из ТЗ закрыты и измерены — не на словах»</a:t>
            </a:r>
            <a:endParaRPr lang="ru-RU" sz="32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08CD02-717E-4292-9557-46C80C531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799" y="1788290"/>
            <a:ext cx="6805848" cy="40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72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Матрица студенческих проектов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Мы отошли от модели «один студент — один проект». В реальности над проектом работают команды, а один студент может вести несколько проектов в разных фазах. Проекты бывают разных типов. В истории фаз видны возвраты: если студент после предзащиты ушёл на доработку — это видно и преподавателю, и менеджеру, и самому студенту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0B90518-DB93-41B8-A40E-A32069E37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111" y="1674564"/>
            <a:ext cx="7847296" cy="4061724"/>
          </a:xfrm>
        </p:spPr>
      </p:pic>
    </p:spTree>
    <p:extLst>
      <p:ext uri="{BB962C8B-B14F-4D97-AF65-F5344CB8AC3E}">
        <p14:creationId xmlns:p14="http://schemas.microsoft.com/office/powerpoint/2010/main" val="616603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Матрица студенческих проектов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Эта же работа со стороны студента.</a:t>
            </a:r>
          </a:p>
          <a:p>
            <a:endParaRPr lang="ru-RU" sz="1600" dirty="0"/>
          </a:p>
          <a:p>
            <a:r>
              <a:rPr lang="ru-RU" sz="1600" dirty="0"/>
              <a:t>Предусмотрена интеграция с Системой Контроля Версий (</a:t>
            </a:r>
            <a:r>
              <a:rPr lang="en-US" sz="1600" dirty="0"/>
              <a:t>GOGs, </a:t>
            </a:r>
            <a:r>
              <a:rPr lang="en-US" sz="1600" dirty="0" err="1"/>
              <a:t>Github</a:t>
            </a:r>
            <a:r>
              <a:rPr lang="en-US" sz="1600" dirty="0"/>
              <a:t>, </a:t>
            </a:r>
            <a:r>
              <a:rPr lang="en-US" sz="1600" dirty="0" err="1"/>
              <a:t>GitVerse</a:t>
            </a:r>
            <a:r>
              <a:rPr lang="en-US" sz="1600" dirty="0"/>
              <a:t>)</a:t>
            </a:r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AC529B-2605-4691-86C4-694852835E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322" y="1432193"/>
            <a:ext cx="8236185" cy="44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5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Классно-урочный журнал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Мы не отказываемся и от классической классно-урочной системы: обычный журнал, но с возможностью оставлять заметки и управлять их видимостью: самому преподавателю, студенту, менеджеру, родителям.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07554B-DFC3-4927-B03F-E61FF3239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827" y="1706938"/>
            <a:ext cx="8600431" cy="42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26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Классно-урочный журнал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Он-же со стороны студента: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6D1FFE-9221-41D7-B705-C85C34269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308" y="1690308"/>
            <a:ext cx="7073919" cy="409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12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Контроль менеджера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Менеджер видит суммарную статистику по группе, включая посещаемость и со стороны студентов и со стороны родителей</a:t>
            </a:r>
          </a:p>
          <a:p>
            <a:endParaRPr lang="ru-RU" sz="1600" dirty="0"/>
          </a:p>
          <a:p>
            <a:r>
              <a:rPr lang="ru-RU" sz="1600" dirty="0"/>
              <a:t>Примечание для проверяющих: статистика видна для ВУЗОВ в фазе 11.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A436F3-FCE7-462C-8C23-7B34861BC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200" y="1894552"/>
            <a:ext cx="7408307" cy="387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81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Контроль менеджера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28533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Менеджер видит суммарную статистику по группе, включая посещаемость и со стороны студентов и со стороны родителей</a:t>
            </a:r>
          </a:p>
          <a:p>
            <a:endParaRPr lang="ru-RU" sz="1600" dirty="0"/>
          </a:p>
          <a:p>
            <a:r>
              <a:rPr lang="ru-RU" sz="1600" dirty="0"/>
              <a:t>Примечание для проверяющих: статистика видна для ВУЗов в фазе 11.</a:t>
            </a:r>
          </a:p>
          <a:p>
            <a:endParaRPr lang="ru-RU" sz="1600" dirty="0"/>
          </a:p>
          <a:p>
            <a:r>
              <a:rPr lang="ru-RU" sz="1600" dirty="0"/>
              <a:t>Стрелочка – статистика просмотров журнала родителями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0F22A4-637F-46D1-A140-C9EEB95DC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665" y="1578965"/>
            <a:ext cx="7756842" cy="39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62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Перспективы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105431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1. Полноценная интеграция с LMS и сайтом.</a:t>
            </a:r>
            <a:r>
              <a:rPr lang="ru-RU" sz="1600" dirty="0"/>
              <a:t> Прототип уже предусматривает API-обмен с LMS ИТ Школы и сайтом на </a:t>
            </a:r>
            <a:r>
              <a:rPr lang="ru-RU" sz="1600" dirty="0" err="1"/>
              <a:t>Laravel</a:t>
            </a:r>
            <a:r>
              <a:rPr lang="ru-RU" sz="1600" dirty="0"/>
              <a:t>. В следующей итерации — двусторонняя синхронизация: заявки с сайта автоматически создают карточку взаимодействия, а прогресс студента из LMS обновляет фазы проекта без ручного ввода.</a:t>
            </a:r>
          </a:p>
          <a:p>
            <a:r>
              <a:rPr lang="ru-RU" sz="1600" b="1" dirty="0"/>
              <a:t>2. Уведомления и мессенджеры.</a:t>
            </a:r>
            <a:r>
              <a:rPr lang="ru-RU" sz="1600" dirty="0"/>
              <a:t> Сейчас уведомления живут внутри CRM. Следующий шаг — </a:t>
            </a:r>
            <a:r>
              <a:rPr lang="ru-RU" sz="1600" dirty="0" err="1"/>
              <a:t>email</a:t>
            </a:r>
            <a:r>
              <a:rPr lang="ru-RU" sz="1600" dirty="0"/>
              <a:t>, </a:t>
            </a:r>
            <a:r>
              <a:rPr lang="ru-RU" sz="1600" dirty="0" err="1"/>
              <a:t>Telegram</a:t>
            </a:r>
            <a:r>
              <a:rPr lang="ru-RU" sz="1600" dirty="0"/>
              <a:t>-бот, </a:t>
            </a:r>
            <a:r>
              <a:rPr lang="ru-RU" sz="1600" dirty="0" err="1"/>
              <a:t>push</a:t>
            </a:r>
            <a:r>
              <a:rPr lang="ru-RU" sz="1600" dirty="0"/>
              <a:t>-уведомления для родителей и преподавателей. Это сократит время реакции на запросы доработки и подтверждения фаз.</a:t>
            </a:r>
          </a:p>
          <a:p>
            <a:r>
              <a:rPr lang="ru-RU" sz="1600" b="1" dirty="0"/>
              <a:t>3. ИИ-ассистент для менеджера и преподавателя.</a:t>
            </a:r>
            <a:r>
              <a:rPr lang="ru-RU" sz="1600" dirty="0"/>
              <a:t> Генерация </a:t>
            </a:r>
            <a:r>
              <a:rPr lang="ru-RU" sz="1600" dirty="0" err="1"/>
              <a:t>саммари</a:t>
            </a:r>
            <a:r>
              <a:rPr lang="ru-RU" sz="1600" dirty="0"/>
              <a:t> по взаимодействию с вузом, прогноз риска просрочки шага, рекомендация следующего действия, </a:t>
            </a:r>
            <a:r>
              <a:rPr lang="ru-RU" sz="1600" dirty="0" err="1"/>
              <a:t>автоформирование</a:t>
            </a:r>
            <a:r>
              <a:rPr lang="ru-RU" sz="1600" dirty="0"/>
              <a:t> отчётов и проверка студенческих проектов на плагиат и структурные ошибки.</a:t>
            </a:r>
          </a:p>
          <a:p>
            <a:r>
              <a:rPr lang="ru-RU" sz="1600" b="1" dirty="0"/>
              <a:t>4. Расширение типов проектов.</a:t>
            </a:r>
            <a:r>
              <a:rPr lang="ru-RU" sz="1600" dirty="0"/>
              <a:t> Сейчас заложены пять типов — код, исследование, интерактив, доклад, дизайн. Дальше — добавление курсовых, дипломных, лабораторных, </a:t>
            </a:r>
            <a:r>
              <a:rPr lang="ru-RU" sz="1600" dirty="0" err="1"/>
              <a:t>хакатонных</a:t>
            </a:r>
            <a:r>
              <a:rPr lang="ru-RU" sz="1600" dirty="0"/>
              <a:t> проектов с собственными шаблонами фаз и критериями оценки.</a:t>
            </a:r>
          </a:p>
          <a:p>
            <a:r>
              <a:rPr lang="ru-RU" sz="1600" b="1" dirty="0"/>
              <a:t>5. Портфолио студента.</a:t>
            </a:r>
            <a:r>
              <a:rPr lang="ru-RU" sz="1600" dirty="0"/>
              <a:t> Накопленная история проектов, </a:t>
            </a:r>
            <a:r>
              <a:rPr lang="ru-RU" sz="1600" dirty="0" err="1"/>
              <a:t>коммитов</a:t>
            </a:r>
            <a:r>
              <a:rPr lang="ru-RU" sz="1600" dirty="0"/>
              <a:t>, оценок и обратной связи может стать публичным или </a:t>
            </a:r>
            <a:r>
              <a:rPr lang="ru-RU" sz="1600" dirty="0" err="1"/>
              <a:t>полуприватным</a:t>
            </a:r>
            <a:r>
              <a:rPr lang="ru-RU" sz="1600" dirty="0"/>
              <a:t> портфолио. Это ценно и для самого студента при трудоустройстве, и для ИТ Школы как показатель качества подготовки.</a:t>
            </a:r>
          </a:p>
        </p:txBody>
      </p:sp>
    </p:spTree>
    <p:extLst>
      <p:ext uri="{BB962C8B-B14F-4D97-AF65-F5344CB8AC3E}">
        <p14:creationId xmlns:p14="http://schemas.microsoft.com/office/powerpoint/2010/main" val="3682950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107607" name="Заголовок 1"/>
          <p:cNvSpPr>
            <a:spLocks noGrp="1"/>
          </p:cNvSpPr>
          <p:nvPr>
            <p:ph type="title"/>
          </p:nvPr>
        </p:nvSpPr>
        <p:spPr bwMode="auto">
          <a:xfrm>
            <a:off x="577171" y="571574"/>
            <a:ext cx="5994696" cy="552061"/>
          </a:xfrm>
        </p:spPr>
        <p:txBody>
          <a:bodyPr/>
          <a:lstStyle/>
          <a:p>
            <a:r>
              <a:rPr lang="ru-RU" sz="3600" dirty="0"/>
              <a:t>Перспективы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484742" y="1905506"/>
            <a:ext cx="105431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6. Аналитика востребованности программ.</a:t>
            </a:r>
            <a:r>
              <a:rPr lang="ru-RU" sz="1600" dirty="0"/>
              <a:t> Ранжирование ИТ-направлений и продуктов на основе реальных данных: заявки, количество обучающихся, параллельные потоки, средний срок до защиты. Это даст ИТ Школе РТК инструмент для объективного планирования портфеля программ.</a:t>
            </a:r>
          </a:p>
          <a:p>
            <a:r>
              <a:rPr lang="ru-RU" sz="1600" b="1" dirty="0"/>
              <a:t>7. Мобильное приложение.</a:t>
            </a:r>
            <a:r>
              <a:rPr lang="ru-RU" sz="1600" dirty="0"/>
              <a:t> Отдельное приложение для родителей и студентов с </a:t>
            </a:r>
            <a:r>
              <a:rPr lang="ru-RU" sz="1600" dirty="0" err="1"/>
              <a:t>push</a:t>
            </a:r>
            <a:r>
              <a:rPr lang="ru-RU" sz="1600" dirty="0"/>
              <a:t>-уведомлениями, быстрым просмотром оценок и статуса проекта. Менеджеры и преподаватели могут работать в мобильной версии веб-интерфейса.</a:t>
            </a:r>
          </a:p>
          <a:p>
            <a:r>
              <a:rPr lang="ru-RU" sz="1600" b="1" dirty="0"/>
              <a:t>8. Геймификация и мотивация.</a:t>
            </a:r>
            <a:r>
              <a:rPr lang="ru-RU" sz="1600" dirty="0"/>
              <a:t> Рейтинги студентов и вузов, бейджи за скорость и качество, </a:t>
            </a:r>
            <a:r>
              <a:rPr lang="ru-RU" sz="1600" dirty="0" err="1"/>
              <a:t>streak</a:t>
            </a:r>
            <a:r>
              <a:rPr lang="ru-RU" sz="1600" dirty="0"/>
              <a:t> за отсутствие просрочек. Это повышает вовлечённость и делает процесс обучения более живым.</a:t>
            </a:r>
          </a:p>
          <a:p>
            <a:r>
              <a:rPr lang="ru-RU" sz="1600" b="1" dirty="0"/>
              <a:t>9. Интеграция с внешними системами.</a:t>
            </a:r>
            <a:r>
              <a:rPr lang="ru-RU" sz="1600" dirty="0"/>
              <a:t> Электронный документооборот для подписания договоров и лицензий, интеграция с кадровыми системами для передачи данных о выпускниках, взаимодействие с платформами для защиты проектов.</a:t>
            </a:r>
          </a:p>
          <a:p>
            <a:r>
              <a:rPr lang="ru-RU" sz="1600" b="1" dirty="0"/>
              <a:t>10. Масштабирование на другие направления.</a:t>
            </a:r>
            <a:r>
              <a:rPr lang="ru-RU" sz="1600" dirty="0"/>
              <a:t> Система изначально спроектирована как независимый сервис. Её можно адаптировать не только под ИТ-направления, но и под любые другие образовательные программы, где есть проектная работа и двусторонний контроль.</a:t>
            </a:r>
          </a:p>
          <a:p>
            <a:pPr algn="r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49282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3332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513523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1F1BD-246B-47D2-9EBA-C05F72ACCCC4}"/>
              </a:ext>
            </a:extLst>
          </p:cNvPr>
          <p:cNvSpPr txBox="1"/>
          <p:nvPr/>
        </p:nvSpPr>
        <p:spPr>
          <a:xfrm>
            <a:off x="870365" y="1575000"/>
            <a:ext cx="105431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8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ru-RU" sz="8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Спасибо за Внимание!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199B1C4-60B3-42F8-9A97-8ADA665F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59616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1402</Words>
  <Application>Microsoft Office PowerPoint</Application>
  <PresentationFormat>Широкоэкранный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Amatic SC</vt:lpstr>
      <vt:lpstr>Arial</vt:lpstr>
      <vt:lpstr>Calibri</vt:lpstr>
      <vt:lpstr>Montserrat</vt:lpstr>
      <vt:lpstr>Wingdings</vt:lpstr>
      <vt:lpstr>Для Академия инноваторов 16_9</vt:lpstr>
      <vt:lpstr>«Мишки Гамми»</vt:lpstr>
      <vt:lpstr>«Мишки Гамми»</vt:lpstr>
      <vt:lpstr>«Мишки Гамми»</vt:lpstr>
      <vt:lpstr>«Мишки Гамми»</vt:lpstr>
      <vt:lpstr>КОРОТКО О РЕШЕНИИ</vt:lpstr>
      <vt:lpstr>Дашборд руководителя</vt:lpstr>
      <vt:lpstr>Роли и ролевой переключатель</vt:lpstr>
      <vt:lpstr>Дашборд руководителя</vt:lpstr>
      <vt:lpstr>Дашборд руководителя</vt:lpstr>
      <vt:lpstr>Парадигма: двунаправленный workflow</vt:lpstr>
      <vt:lpstr>Матрица проектов «вуз × продукт» с drag-and-drop</vt:lpstr>
      <vt:lpstr>Матрица проектов «вуз × продукт» с drag-and-drop</vt:lpstr>
      <vt:lpstr>Документ как объект</vt:lpstr>
      <vt:lpstr>Документ как объект</vt:lpstr>
      <vt:lpstr>Нагрузочные тесты</vt:lpstr>
      <vt:lpstr>Матрица студенческих проектов</vt:lpstr>
      <vt:lpstr>Матрица студенческих проектов</vt:lpstr>
      <vt:lpstr>Классно-урочный журнал</vt:lpstr>
      <vt:lpstr>Классно-урочный журнал</vt:lpstr>
      <vt:lpstr>Контроль менеджера</vt:lpstr>
      <vt:lpstr>Контроль менеджера</vt:lpstr>
      <vt:lpstr>Перспективы</vt:lpstr>
      <vt:lpstr>Перспективы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User</cp:lastModifiedBy>
  <cp:revision>110</cp:revision>
  <dcterms:created xsi:type="dcterms:W3CDTF">2023-05-15T07:36:23Z</dcterms:created>
  <dcterms:modified xsi:type="dcterms:W3CDTF">2026-10-20T07:20:24Z</dcterms:modified>
</cp:coreProperties>
</file>